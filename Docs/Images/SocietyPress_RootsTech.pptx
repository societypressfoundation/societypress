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0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55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7342-3FDC-7859-DBC0-467C4AEA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E2CAE-327C-B271-BC44-E73D5C6C3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09ACB-68FE-25D1-E7DD-CB0955F54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AB0CE-8BF4-B5F3-D50F-1AFD971AD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66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97F44CC-8BFC-8AB8-E4D9-E22699E70418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7C365DA6-A503-E99D-1359-0B512FD6938A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A3050"/>
            </a:solidFill>
            <a:ln w="12700">
              <a:solidFill>
                <a:srgbClr val="1A3050"/>
              </a:solidFill>
              <a:prstDash val="solid"/>
            </a:ln>
          </p:spPr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61AA2B35-44AB-D490-2B39-3817B9CDA0FF}"/>
                </a:ext>
              </a:extLst>
            </p:cNvPr>
            <p:cNvSpPr/>
            <p:nvPr/>
          </p:nvSpPr>
          <p:spPr>
            <a:xfrm>
              <a:off x="274320" y="4892040"/>
              <a:ext cx="2743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49A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getsocietypress.org</a:t>
              </a:r>
              <a:endParaRPr lang="en-US" sz="1000" dirty="0"/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E7EBEB91-9DE5-8342-70DC-9CACD18542D8}"/>
                </a:ext>
              </a:extLst>
            </p:cNvPr>
            <p:cNvSpPr/>
            <p:nvPr/>
          </p:nvSpPr>
          <p:spPr>
            <a:xfrm>
              <a:off x="2743200" y="4892040"/>
              <a:ext cx="612648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 · Open Source · Built by genealogists for genealogists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C4350-A948-35F7-81AA-3D921A387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62FF49-78D8-084B-4112-46362AF523F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602C2A5-3CEB-0379-1833-E23B6D98552E}"/>
              </a:ext>
            </a:extLst>
          </p:cNvPr>
          <p:cNvSpPr/>
          <p:nvPr/>
        </p:nvSpPr>
        <p:spPr>
          <a:xfrm>
            <a:off x="365760" y="640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made me mad.</a:t>
            </a:r>
            <a:endParaRPr lang="en-US" sz="4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82E7892-A08F-BC91-1A13-B5D0CF4D94B7}"/>
              </a:ext>
            </a:extLst>
          </p:cNvPr>
          <p:cNvSpPr/>
          <p:nvPr/>
        </p:nvSpPr>
        <p:spPr>
          <a:xfrm>
            <a:off x="36576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So, I did something.</a:t>
            </a:r>
            <a:endParaRPr lang="en-US" sz="3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BDF20C5-D344-1C12-B3B6-37B821085813}"/>
              </a:ext>
            </a:extLst>
          </p:cNvPr>
          <p:cNvSpPr/>
          <p:nvPr/>
        </p:nvSpPr>
        <p:spPr>
          <a:xfrm>
            <a:off x="36576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W. Stricklin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Committee Chair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AAB8C8"/>
                </a:solidFill>
                <a:latin typeface="Calibri" pitchFamily="34" charset="0"/>
                <a:cs typeface="Calibri" pitchFamily="34" charset="-120"/>
              </a:rPr>
              <a:t>San Antonio Genealogical &amp; Historical Society</a:t>
            </a:r>
            <a:endParaRPr lang="en-US" sz="13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4D0A981-0A8D-B928-73B5-D09E5C20D520}"/>
              </a:ext>
            </a:extLst>
          </p:cNvPr>
          <p:cNvSpPr/>
          <p:nvPr/>
        </p:nvSpPr>
        <p:spPr>
          <a:xfrm>
            <a:off x="365760" y="45262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E193CC0-F8F4-5D22-2FA5-E52EFE641241}"/>
              </a:ext>
            </a:extLst>
          </p:cNvPr>
          <p:cNvSpPr/>
          <p:nvPr/>
        </p:nvSpPr>
        <p:spPr>
          <a:xfrm>
            <a:off x="36576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RootsTech 2027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E14975-AD9C-DDA6-FAAB-A2DA34F9E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326" y="446049"/>
            <a:ext cx="4343168" cy="434316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A6C8AF5-5B61-0735-BECB-DEF7882F42BA}"/>
              </a:ext>
            </a:extLst>
          </p:cNvPr>
          <p:cNvGrpSpPr/>
          <p:nvPr/>
        </p:nvGrpSpPr>
        <p:grpSpPr>
          <a:xfrm>
            <a:off x="365760" y="2926080"/>
            <a:ext cx="2578608" cy="475488"/>
            <a:chOff x="365760" y="2926080"/>
            <a:chExt cx="2578608" cy="475488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5A255914-CC13-36E3-4A63-EAC6D23ACE84}"/>
                </a:ext>
              </a:extLst>
            </p:cNvPr>
            <p:cNvSpPr/>
            <p:nvPr/>
          </p:nvSpPr>
          <p:spPr>
            <a:xfrm>
              <a:off x="365760" y="2926080"/>
              <a:ext cx="475488" cy="475488"/>
            </a:xfrm>
            <a:prstGeom prst="roundRect">
              <a:avLst>
                <a:gd name="adj" fmla="val 15385"/>
              </a:avLst>
            </a:prstGeom>
            <a:solidFill>
              <a:srgbClr val="C49A3C"/>
            </a:solidFill>
            <a:ln w="12700">
              <a:solidFill>
                <a:srgbClr val="C49A3C"/>
              </a:solidFill>
              <a:prstDash val="solid"/>
            </a:ln>
          </p:spPr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F7DA110E-082B-C6D4-33FC-59E6578E155D}"/>
                </a:ext>
              </a:extLst>
            </p:cNvPr>
            <p:cNvSpPr/>
            <p:nvPr/>
          </p:nvSpPr>
          <p:spPr>
            <a:xfrm>
              <a:off x="365760" y="2926080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0F1B2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</a:t>
              </a:r>
              <a:endParaRPr lang="en-US" sz="2800" dirty="0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8F7BE867-5862-4B1F-4BCA-8FD3C03A022F}"/>
                </a:ext>
              </a:extLst>
            </p:cNvPr>
            <p:cNvSpPr/>
            <p:nvPr/>
          </p:nvSpPr>
          <p:spPr>
            <a:xfrm>
              <a:off x="932688" y="2926080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Society</a:t>
              </a:r>
              <a:r>
                <a:rPr lang="en-US" sz="2000" b="1" dirty="0">
                  <a:solidFill>
                    <a:srgbClr val="C49A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3809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22295"/>
            <a:ext cx="420624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“Someone spent hours walking those rows, brushing lichen off sandstone markers, squinting at half-legible dates…”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2602701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data exists.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accurate.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extremely valuable.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almost no one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 that society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find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on someone’s laptop.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proprietary platform.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spreadsheet nobody can find.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C5A7E8-7A4D-7F2B-CA80-3E3F56F268A4}"/>
              </a:ext>
            </a:extLst>
          </p:cNvPr>
          <p:cNvGrpSpPr/>
          <p:nvPr/>
        </p:nvGrpSpPr>
        <p:grpSpPr>
          <a:xfrm>
            <a:off x="274320" y="4392287"/>
            <a:ext cx="320040" cy="320040"/>
            <a:chOff x="274320" y="4392287"/>
            <a:chExt cx="320040" cy="320040"/>
          </a:xfrm>
        </p:grpSpPr>
        <p:sp>
          <p:nvSpPr>
            <p:cNvPr id="7" name="Shape 5"/>
            <p:cNvSpPr/>
            <p:nvPr/>
          </p:nvSpPr>
          <p:spPr>
            <a:xfrm>
              <a:off x="274320" y="4392287"/>
              <a:ext cx="320040" cy="320040"/>
            </a:xfrm>
            <a:prstGeom prst="roundRect">
              <a:avLst>
                <a:gd name="adj" fmla="val 22857"/>
              </a:avLst>
            </a:prstGeom>
            <a:solidFill>
              <a:srgbClr val="C49A3C"/>
            </a:solidFill>
            <a:ln w="12700">
              <a:solidFill>
                <a:srgbClr val="C49A3C"/>
              </a:solidFill>
              <a:prstDash val="solid"/>
            </a:ln>
          </p:spPr>
        </p:sp>
        <p:sp>
          <p:nvSpPr>
            <p:cNvPr id="8" name="Text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320" y="4426577"/>
              <a:ext cx="32004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F1B2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</a:t>
              </a:r>
              <a:endParaRPr lang="en-US" sz="2000" dirty="0"/>
            </a:p>
          </p:txBody>
        </p:sp>
      </p:grpSp>
      <p:sp>
        <p:nvSpPr>
          <p:cNvPr id="9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800" y="441811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EE6414-67C7-3D5C-E8F2-7A3B427872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10" name="Shape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A3050"/>
            </a:solidFill>
            <a:ln w="12700">
              <a:solidFill>
                <a:srgbClr val="1A3050"/>
              </a:solidFill>
              <a:prstDash val="solid"/>
            </a:ln>
          </p:spPr>
        </p:sp>
        <p:sp>
          <p:nvSpPr>
            <p:cNvPr id="11" name="Text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320" y="4892040"/>
              <a:ext cx="2743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49A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getsocietypress.org</a:t>
              </a:r>
              <a:endParaRPr lang="en-US" sz="1000" dirty="0"/>
            </a:p>
          </p:txBody>
        </p:sp>
        <p:sp>
          <p:nvSpPr>
            <p:cNvPr id="12" name="Text 1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3200" y="4892040"/>
              <a:ext cx="612648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 · Open Source · Built by genealogists for genealogists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Harold.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history teacher. Bismarck, North Dakota.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secretary for 11 years.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volun</a:t>
            </a:r>
            <a:r>
              <a:rPr lang="en-US" sz="2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</a:t>
            </a:r>
            <a:r>
              <a:rPr lang="en-US" sz="2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running the website.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560320" cy="19202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01175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58697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spreadsheets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560320" cy="19202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901175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358697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heard “plugin”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non-electrically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2560320" cy="19202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901175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358697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society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anyway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5024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Harold is not a caricature. He is a portrait.  Half the people in this room are Harold. The other half know Harold.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5262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17" name="Text 15"/>
          <p:cNvSpPr/>
          <p:nvPr/>
        </p:nvSpPr>
        <p:spPr>
          <a:xfrm>
            <a:off x="658368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Sociy</a:t>
            </a:r>
            <a:r>
              <a:rPr lang="en-US" sz="704" b="1" dirty="0" err="1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800-lb gorilla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8542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05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societies on 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96596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8542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2027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205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Classic sunset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(maybe sooner)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196596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8542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$500/yr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05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ENS-R cost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mid-size society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143000"/>
            <a:ext cx="196596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8542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205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site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850392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175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kicker: ENS-R is almost </a:t>
            </a:r>
            <a:r>
              <a:rPr lang="en-US" sz="1700" b="1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certainly</a:t>
            </a:r>
            <a:r>
              <a:rPr lang="en-US" sz="17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WordPress under the hood —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rebranded, locked down, and charged hundreds a year for the privilege.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" y="3931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tickets handled by overseas contractors. Password resets. Minutiae.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members’ dues money, gone.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is brutal.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society: 150 members × $30/year dues = $4,500 in annual revenue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2377440"/>
          </a:xfrm>
          <a:prstGeom prst="rect">
            <a:avLst/>
          </a:prstGeom>
          <a:solidFill>
            <a:srgbClr val="1A0A0A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ENS-R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D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to ENS-R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$2,400 migration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11% of all revenue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keep the site 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840480" cy="2377440"/>
          </a:xfrm>
          <a:prstGeom prst="rect">
            <a:avLst/>
          </a:prstGeom>
          <a:solidFill>
            <a:srgbClr val="0A1A0A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SocietyPress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forever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$10/mo hosting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$120/year total</a:t>
            </a:r>
            <a:endParaRPr lang="en-US" sz="4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money for preserving records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274320" y="45537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13" name="Text 11"/>
          <p:cNvSpPr/>
          <p:nvPr/>
        </p:nvSpPr>
        <p:spPr>
          <a:xfrm>
            <a:off x="658368" y="4553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70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_he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F1B2D">
              <a:alpha val="55000"/>
            </a:srgbClr>
          </a:solidFill>
          <a:ln w="12700">
            <a:solidFill>
              <a:srgbClr val="0F1B2D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365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got mad.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20040" y="1234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 did something.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volunteered as assistant to our 3rd VP and webmaster at SAGHS. I saw it firsthand: huge societies hire their own staff. Everyone else has aging volunteers, computer-phobic members, and a vendor collecting rent.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watched money that should preserve history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disappear into a help ticket queue.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17920" y="25603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256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44" dirty="0"/>
          </a:p>
        </p:txBody>
      </p:sp>
      <p:sp>
        <p:nvSpPr>
          <p:cNvPr id="6" name="Text 4"/>
          <p:cNvSpPr/>
          <p:nvPr/>
        </p:nvSpPr>
        <p:spPr>
          <a:xfrm>
            <a:off x="6748272" y="2560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1056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056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1480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73152" cy="15544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52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 WordPress plugin + theme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Install, activate, done. No external dependencies.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43000"/>
            <a:ext cx="73152" cy="15544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52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100% free. GPL licensed.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freemium. Not “free tier.” Not “free but we sell your data.” Free.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11480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26080"/>
            <a:ext cx="73152" cy="15544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35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Self-hosted — you own everything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520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server, your site. Move hosts anytime. No vendor lock-in.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35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Built for Harold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is completely hidden. Harold never needs to know it’s there.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25" name="Text 23"/>
          <p:cNvSpPr/>
          <p:nvPr/>
        </p:nvSpPr>
        <p:spPr>
          <a:xfrm>
            <a:off x="658368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70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isn’t.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expectations matter.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256032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49A3C"/>
                </a:solidFill>
              </a:rPr>
              <a:t>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hosted 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your own WordPress hosting.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$5–$15/month. Easy to get.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256032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49A3C"/>
                </a:solidFill>
              </a:rPr>
              <a:t>✕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family tree 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society management platform.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GEDCOM is for trees. This is for running your society.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256032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49A3C"/>
                </a:solidFill>
              </a:rPr>
              <a:t>✕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finished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 Built by one person.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 with your feedback.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path exists: 86+ EasyNetSites column mappings. Direct CSV import. You don’t migrate alone.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5537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19" name="Text 17"/>
          <p:cNvSpPr/>
          <p:nvPr/>
        </p:nvSpPr>
        <p:spPr>
          <a:xfrm>
            <a:off x="658368" y="4553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70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society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96596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96596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registration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96596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18304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catalog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196596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94576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archive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4612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Genealogical records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50592" y="228600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324612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💌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542032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email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26864" y="228600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324612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18304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store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03136" y="228600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324612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94576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&amp; campaigns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52628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65760" y="4096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system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50592" y="356616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452628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542032" y="4096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&amp; elections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6864" y="356616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452628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718304" y="4096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member data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03136" y="3566160"/>
            <a:ext cx="20116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03136" y="4526280"/>
            <a:ext cx="201168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03136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894576" y="4096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builder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toggle-able modules · 35 genealogical record types · one install file · zero subscription fees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66344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6400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66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3749040"/>
          </a:xfrm>
          <a:prstGeom prst="rect">
            <a:avLst/>
          </a:prstGeom>
          <a:solidFill>
            <a:srgbClr val="111B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/ Squarespace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membership mgmt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library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genealogical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Built for everyone =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no 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3749040"/>
          </a:xfrm>
          <a:prstGeom prst="rect">
            <a:avLst/>
          </a:prstGeom>
          <a:solidFill>
            <a:srgbClr val="111B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Apricot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24912" y="1572768"/>
            <a:ext cx="146304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Monthly fees $48–$230+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Built for any nonprofit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genealogy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You’re renting your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member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2011680" cy="3749040"/>
          </a:xfrm>
          <a:prstGeom prst="rect">
            <a:avLst/>
          </a:prstGeom>
          <a:solidFill>
            <a:srgbClr val="111B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ENS-R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01184" y="1572768"/>
            <a:ext cx="146304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$250–$700+/year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$2,400 migration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Vendor lock-in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Probably WordPress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trench coat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3136" y="1005840"/>
            <a:ext cx="2011680" cy="3749040"/>
          </a:xfrm>
          <a:prstGeom prst="rect">
            <a:avLst/>
          </a:prstGeom>
          <a:solidFill>
            <a:srgbClr val="1A3050"/>
          </a:solidFill>
          <a:ln w="25400">
            <a:solidFill>
              <a:srgbClr val="C49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1078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SocietyPress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77456" y="1572768"/>
            <a:ext cx="146304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forever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for this community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35 record types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 own everything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5537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33" name="Text 31"/>
          <p:cNvSpPr/>
          <p:nvPr/>
        </p:nvSpPr>
        <p:spPr>
          <a:xfrm>
            <a:off x="658368" y="4553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70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doesn’t have to be scary.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52728"/>
            <a:ext cx="502920" cy="50292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decide today.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56362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Classic runs until May 2027 — maybe longer, maybe not. You have time to evaluate.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502920" cy="50292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112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path is already built.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45973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86+ ENS column mappings. Direct CSV import. Your member data moves with you.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44952"/>
            <a:ext cx="502920" cy="50292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migrate alone.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558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documentation, and a live demo you can poke at before committing to anything.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941064"/>
            <a:ext cx="502920" cy="50292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is zero.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If it’s not right, you’ve lost nothing. If it is — you keep $500+/year. Forever.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96" dirty="0"/>
          </a:p>
        </p:txBody>
      </p:sp>
      <p:sp>
        <p:nvSpPr>
          <p:cNvPr id="22" name="Text 20"/>
          <p:cNvSpPr/>
          <p:nvPr/>
        </p:nvSpPr>
        <p:spPr>
          <a:xfrm>
            <a:off x="658368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70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4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4892040"/>
            <a:ext cx="6126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 Source · Built by genealogists for genealogists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things. Right now.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06040" cy="32918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234440"/>
            <a:ext cx="594360" cy="59436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the site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demo.getsocietypress.org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around. Try the demo.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32918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234440"/>
            <a:ext cx="594360" cy="59436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your 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if you’re running ENS Classic.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ticking.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to know this option exists.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3291840"/>
          </a:xfrm>
          <a:prstGeom prst="rect">
            <a:avLst/>
          </a:prstGeom>
          <a:solidFill>
            <a:srgbClr val="1A3050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234440"/>
            <a:ext cx="594360" cy="594360"/>
          </a:xfrm>
          <a:prstGeom prst="ellipse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involved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community software.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shapes the next version.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society’s needs matter.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getsocietypress.org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_cover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8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91840" y="10972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91840" y="1097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16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4041648" y="1097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r>
              <a:rPr lang="en-US" sz="1584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71600" y="21945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genealogists for genealogists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getsocietypress.org  ·  demo.getsocietypress.org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W. Stricklin  ·  Education Committee Chair, SAGHS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1099</Words>
  <Application>Microsoft Macintosh PowerPoint</Application>
  <PresentationFormat>On-screen Show (16:9)</PresentationFormat>
  <Paragraphs>232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SocietyPress — RootsTech</dc:title>
  <dc:subject>PptxGenJS Presentation</dc:subject>
  <dc:creator>Charles W. Stricklin</dc:creator>
  <cp:lastModifiedBy>Charles Stricklin</cp:lastModifiedBy>
  <cp:revision>2</cp:revision>
  <dcterms:created xsi:type="dcterms:W3CDTF">2026-04-05T02:47:39Z</dcterms:created>
  <dcterms:modified xsi:type="dcterms:W3CDTF">2026-04-05T03:27:34Z</dcterms:modified>
</cp:coreProperties>
</file>